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3"/>
    <p:sldMasterId id="2147483661" r:id="rId4"/>
  </p:sldMasterIdLst>
  <p:notesMasterIdLst>
    <p:notesMasterId r:id="rId6"/>
  </p:notesMasterIdLst>
  <p:sldIdLst>
    <p:sldId id="256" r:id="rId5"/>
    <p:sldId id="3507" r:id="rId7"/>
    <p:sldId id="3530" r:id="rId8"/>
    <p:sldId id="3508" r:id="rId9"/>
    <p:sldId id="3531" r:id="rId10"/>
    <p:sldId id="3521" r:id="rId11"/>
    <p:sldId id="3543" r:id="rId12"/>
    <p:sldId id="3532" r:id="rId13"/>
    <p:sldId id="3526" r:id="rId14"/>
    <p:sldId id="3534" r:id="rId15"/>
    <p:sldId id="3536" r:id="rId16"/>
    <p:sldId id="3538" r:id="rId17"/>
    <p:sldId id="3539" r:id="rId18"/>
    <p:sldId id="3540" r:id="rId19"/>
    <p:sldId id="3542" r:id="rId20"/>
    <p:sldId id="3544" r:id="rId21"/>
    <p:sldId id="3511" r:id="rId22"/>
    <p:sldId id="25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59" userDrawn="1">
          <p15:clr>
            <a:srgbClr val="A4A3A4"/>
          </p15:clr>
        </p15:guide>
        <p15:guide id="4" orient="horz" pos="3900" userDrawn="1">
          <p15:clr>
            <a:srgbClr val="A4A3A4"/>
          </p15:clr>
        </p15:guide>
        <p15:guide id="5" pos="7135" userDrawn="1">
          <p15:clr>
            <a:srgbClr val="A4A3A4"/>
          </p15:clr>
        </p15:guide>
        <p15:guide id="6" pos="551" userDrawn="1">
          <p15:clr>
            <a:srgbClr val="A4A3A4"/>
          </p15:clr>
        </p15:guide>
        <p15:guide id="7" pos="0" userDrawn="1">
          <p15:clr>
            <a:srgbClr val="A4A3A4"/>
          </p15:clr>
        </p15:guide>
        <p15:guide id="8" orient="horz" pos="762" userDrawn="1">
          <p15:clr>
            <a:srgbClr val="A4A3A4"/>
          </p15:clr>
        </p15:guide>
        <p15:guide id="9" pos="6879" userDrawn="1">
          <p15:clr>
            <a:srgbClr val="A4A3A4"/>
          </p15:clr>
        </p15:guide>
        <p15:guide id="10" pos="46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5F55"/>
    <a:srgbClr val="0089DB"/>
    <a:srgbClr val="FF2600"/>
    <a:srgbClr val="005CA7"/>
    <a:srgbClr val="2F71B1"/>
    <a:srgbClr val="002664"/>
    <a:srgbClr val="FFB418"/>
    <a:srgbClr val="1C53BE"/>
    <a:srgbClr val="001C50"/>
    <a:srgbClr val="008A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0686" autoAdjust="0"/>
  </p:normalViewPr>
  <p:slideViewPr>
    <p:cSldViewPr snapToGrid="0" showGuides="1">
      <p:cViewPr varScale="1">
        <p:scale>
          <a:sx n="116" d="100"/>
          <a:sy n="116" d="100"/>
        </p:scale>
        <p:origin x="102" y="546"/>
      </p:cViewPr>
      <p:guideLst>
        <p:guide orient="horz" pos="2130"/>
        <p:guide pos="3840"/>
        <p:guide orient="horz" pos="459"/>
        <p:guide orient="horz" pos="3900"/>
        <p:guide pos="7135"/>
        <p:guide pos="551"/>
        <p:guide/>
        <p:guide orient="horz" pos="762"/>
        <p:guide pos="6879"/>
        <p:guide pos="462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4159113796576"/>
          <c:y val="0.019639934533551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573514602215509"/>
          <c:y val="0.124713584288052"/>
          <c:w val="0.914954682779456"/>
          <c:h val="0.64180032733224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加速比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基线代码</c:v>
                </c:pt>
                <c:pt idx="1">
                  <c:v>线性算子的DCU移植</c:v>
                </c:pt>
                <c:pt idx="2">
                  <c:v>全面GPU预热</c:v>
                </c:pt>
                <c:pt idx="3">
                  <c:v>混合精度应用</c:v>
                </c:pt>
                <c:pt idx="4">
                  <c:v>内核优化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4.54</c:v>
                </c:pt>
                <c:pt idx="2">
                  <c:v>9.97</c:v>
                </c:pt>
                <c:pt idx="3">
                  <c:v>15.97</c:v>
                </c:pt>
                <c:pt idx="4">
                  <c:v>22.85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90541619"/>
        <c:axId val="705173345"/>
      </c:lineChart>
      <c:catAx>
        <c:axId val="49054161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05173345"/>
        <c:crosses val="autoZero"/>
        <c:auto val="1"/>
        <c:lblAlgn val="ctr"/>
        <c:lblOffset val="100"/>
        <c:noMultiLvlLbl val="0"/>
      </c:catAx>
      <c:valAx>
        <c:axId val="70517334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05416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401012d-239e-4e81-976a-b9a50bf9c8f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00427995971803"/>
          <c:y val="0.004803073967339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65810674723061"/>
          <c:y val="0.0220941402497598"/>
          <c:w val="0.926913393756294"/>
          <c:h val="0.7283701569004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样例运行时间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基线代码</c:v>
                </c:pt>
                <c:pt idx="1">
                  <c:v>线性算子的DCU移植</c:v>
                </c:pt>
                <c:pt idx="2">
                  <c:v>全面GPU预热</c:v>
                </c:pt>
                <c:pt idx="3">
                  <c:v>混合精度应用</c:v>
                </c:pt>
                <c:pt idx="4">
                  <c:v>内核优化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3291</c:v>
                </c:pt>
                <c:pt idx="1">
                  <c:v>724</c:v>
                </c:pt>
                <c:pt idx="2">
                  <c:v>330</c:v>
                </c:pt>
                <c:pt idx="3">
                  <c:v>206</c:v>
                </c:pt>
                <c:pt idx="4">
                  <c:v>144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469025665"/>
        <c:axId val="662113977"/>
      </c:barChart>
      <c:catAx>
        <c:axId val="46902566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62113977"/>
        <c:crosses val="autoZero"/>
        <c:auto val="1"/>
        <c:lblAlgn val="ctr"/>
        <c:lblOffset val="100"/>
        <c:noMultiLvlLbl val="0"/>
      </c:catAx>
      <c:valAx>
        <c:axId val="66211397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6902566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a031800-49db-44a6-859a-9fc089edecb4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FCE83-C88F-410B-BEE1-82563B4E7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9401F-AD0A-4A3C-8023-0ED3A5967C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477818" y="1439945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477818" y="2331327"/>
            <a:ext cx="5791199" cy="53159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477818" y="3222711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3477817" y="4114093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3477817" y="5005475"/>
            <a:ext cx="5791199" cy="544615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  <a:endParaRPr lang="zh-CN" altLang="en-US" dirty="0"/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4802" y="219280"/>
            <a:ext cx="1050918" cy="478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  <a:endParaRPr lang="zh-CN" altLang="en-US" dirty="0"/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4802" y="219280"/>
            <a:ext cx="1050918" cy="478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31586" y="1758270"/>
            <a:ext cx="9792228" cy="830997"/>
          </a:xfrm>
          <a:prstGeom prst="rect">
            <a:avLst/>
          </a:prstGeom>
        </p:spPr>
        <p:txBody>
          <a:bodyPr/>
          <a:lstStyle>
            <a:lvl1pPr marL="0" indent="0" algn="l" defTabSz="12192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5335" b="1" kern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9122443" y="5157194"/>
            <a:ext cx="2688597" cy="10561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758270"/>
            <a:ext cx="143339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477818" y="1439945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477818" y="2331327"/>
            <a:ext cx="5791199" cy="53159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477818" y="3222711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3477817" y="4114093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3477817" y="5005475"/>
            <a:ext cx="5791199" cy="544615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  <a:endParaRPr lang="zh-CN" altLang="en-US" dirty="0"/>
          </a:p>
        </p:txBody>
      </p: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4802" y="219280"/>
            <a:ext cx="1050918" cy="478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1295469" y="2756926"/>
            <a:ext cx="9697076" cy="830997"/>
          </a:xfrm>
          <a:prstGeom prst="rect">
            <a:avLst/>
          </a:prstGeom>
        </p:spPr>
        <p:txBody>
          <a:bodyPr/>
          <a:lstStyle>
            <a:lvl1pPr marL="0" indent="0" algn="ctr" defTabSz="12192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3735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4079777" y="4197086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079775" y="4685002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079774" y="5165055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4079774" y="5645108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4802" y="219280"/>
            <a:ext cx="1050918" cy="478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10512491" y="0"/>
            <a:ext cx="1679509" cy="792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4802" y="219280"/>
            <a:ext cx="1050918" cy="478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  <a:endParaRPr lang="zh-CN" altLang="en-US" dirty="0"/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4802" y="219280"/>
            <a:ext cx="1050918" cy="478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 rot="-2700000">
            <a:off x="2283662" y="2857939"/>
            <a:ext cx="6683487" cy="91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4800" dirty="0">
                <a:solidFill>
                  <a:schemeClr val="accent2">
                    <a:lumMod val="75000"/>
                    <a:alpha val="57000"/>
                  </a:schemeClr>
                </a:solidFill>
              </a:rPr>
              <a:t>内部资料，严禁外传</a:t>
            </a:r>
            <a:endParaRPr kumimoji="1" lang="zh-CN" altLang="en-US" sz="4800" dirty="0">
              <a:solidFill>
                <a:schemeClr val="accent2">
                  <a:lumMod val="75000"/>
                  <a:alpha val="57000"/>
                </a:schemeClr>
              </a:solidFill>
            </a:endParaRPr>
          </a:p>
        </p:txBody>
      </p:sp>
      <p:pic>
        <p:nvPicPr>
          <p:cNvPr id="5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4802" y="219280"/>
            <a:ext cx="1050918" cy="478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477818" y="1439945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477818" y="2331327"/>
            <a:ext cx="5791199" cy="53159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477818" y="3222711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3477817" y="4114093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3477817" y="5005475"/>
            <a:ext cx="5791199" cy="544615"/>
          </a:xfrm>
          <a:prstGeom prst="rect">
            <a:avLst/>
          </a:prstGeom>
        </p:spPr>
        <p:txBody>
          <a:bodyPr anchor="ctr"/>
          <a:lstStyle>
            <a:lvl1pPr marL="0" marR="0" indent="0" algn="l" defTabSz="1219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200" marR="0" lvl="0" indent="-45720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  <a:endParaRPr lang="zh-CN" altLang="en-US" dirty="0"/>
          </a:p>
        </p:txBody>
      </p:sp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4802" y="219280"/>
            <a:ext cx="1050918" cy="478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  <a:endParaRPr lang="zh-CN" altLang="en-US" dirty="0"/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4802" y="219280"/>
            <a:ext cx="1050918" cy="47830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jpeg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CA26E-5087-43CF-B554-878B95BA54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</p:sldLayoutIdLst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CA26E-5087-43CF-B554-878B95BA54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slide" Target="slide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slide" Target="slide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20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390" y="201295"/>
            <a:ext cx="11809730" cy="6464300"/>
          </a:xfrm>
          <a:prstGeom prst="rect">
            <a:avLst/>
          </a:prstGeom>
          <a:solidFill>
            <a:srgbClr val="008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13921" y="2358479"/>
            <a:ext cx="89641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/>
            <a:r>
              <a:rPr kumimoji="1" lang="en-US" altLang="zh-CN" sz="4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GMRES</a:t>
            </a:r>
            <a:r>
              <a:rPr kumimoji="1" lang="zh-CN" altLang="en-US" sz="4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</a:t>
            </a:r>
            <a:r>
              <a:rPr kumimoji="1" lang="en-US" altLang="zh-CN" sz="4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DCU</a:t>
            </a:r>
            <a:r>
              <a:rPr kumimoji="1" lang="zh-CN" altLang="en-US" sz="4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优化技术总结报告</a:t>
            </a:r>
            <a:endParaRPr kumimoji="1" lang="zh-CN" altLang="en-US" sz="4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12890" y="4114800"/>
            <a:ext cx="3667760" cy="946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1219200"/>
            <a:r>
              <a:rPr kumimoji="1"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汇报队伍：梦溪湖</a:t>
            </a:r>
            <a:r>
              <a:rPr kumimoji="1"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</a:t>
            </a:r>
            <a:endParaRPr kumimoji="1" lang="en-US" altLang="zh-CN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1219200"/>
            <a:r>
              <a:rPr kumimoji="1"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时间：</a:t>
            </a:r>
            <a:r>
              <a:rPr kumimoji="1"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2025-11-14</a:t>
            </a:r>
            <a:endParaRPr kumimoji="1" lang="en-US" altLang="zh-CN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1219200"/>
            <a:endParaRPr kumimoji="1" lang="en-US" altLang="zh-CN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 descr="C:\Users\Administrator\Desktop\logo.pnglogo"/>
          <p:cNvPicPr>
            <a:picLocks noChangeAspect="1"/>
          </p:cNvPicPr>
          <p:nvPr/>
        </p:nvPicPr>
        <p:blipFill>
          <a:blip r:embed="rId1">
            <a:lum contrast="24000"/>
          </a:blip>
          <a:srcRect/>
          <a:stretch>
            <a:fillRect/>
          </a:stretch>
        </p:blipFill>
        <p:spPr>
          <a:xfrm>
            <a:off x="5994400" y="4114800"/>
            <a:ext cx="6096000" cy="2451100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664"/>
                </a:solidFill>
              </a:rPr>
              <a:t>目录</a:t>
            </a:r>
            <a:endParaRPr lang="zh-CN" altLang="en-US" dirty="0">
              <a:solidFill>
                <a:srgbClr val="002664"/>
              </a:solidFill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213644" y="1471410"/>
            <a:ext cx="7743656" cy="627736"/>
            <a:chOff x="1985044" y="1059584"/>
            <a:chExt cx="5038726" cy="408462"/>
          </a:xfrm>
        </p:grpSpPr>
        <p:sp>
          <p:nvSpPr>
            <p:cNvPr id="30" name="MH_Others_1"/>
            <p:cNvSpPr/>
            <p:nvPr>
              <p:custDataLst>
                <p:tags r:id="rId1"/>
              </p:custDataLst>
            </p:nvPr>
          </p:nvSpPr>
          <p:spPr>
            <a:xfrm>
              <a:off x="1985044" y="1098650"/>
              <a:ext cx="238125" cy="369396"/>
            </a:xfrm>
            <a:custGeom>
              <a:avLst/>
              <a:gdLst>
                <a:gd name="connsiteX0" fmla="*/ 203199 w 203199"/>
                <a:gd name="connsiteY0" fmla="*/ 0 h 210018"/>
                <a:gd name="connsiteX1" fmla="*/ 203199 w 203199"/>
                <a:gd name="connsiteY1" fmla="*/ 210018 h 210018"/>
                <a:gd name="connsiteX2" fmla="*/ 0 w 203199"/>
                <a:gd name="connsiteY2" fmla="*/ 210018 h 210018"/>
                <a:gd name="connsiteX3" fmla="*/ 0 w 203199"/>
                <a:gd name="connsiteY3" fmla="*/ 209707 h 2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199" h="210018">
                  <a:moveTo>
                    <a:pt x="203199" y="0"/>
                  </a:moveTo>
                  <a:lnTo>
                    <a:pt x="203199" y="210018"/>
                  </a:lnTo>
                  <a:lnTo>
                    <a:pt x="0" y="210018"/>
                  </a:lnTo>
                  <a:lnTo>
                    <a:pt x="0" y="209707"/>
                  </a:lnTo>
                  <a:close/>
                </a:path>
              </a:pathLst>
            </a:custGeom>
            <a:solidFill>
              <a:srgbClr val="FFB418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32" name="MH_Entry_1">
              <a:hlinkClick r:id="rId2" action="ppaction://hlinksldjump"/>
            </p:cNvPr>
            <p:cNvSpPr/>
            <p:nvPr>
              <p:custDataLst>
                <p:tags r:id="rId3"/>
              </p:custDataLst>
            </p:nvPr>
          </p:nvSpPr>
          <p:spPr>
            <a:xfrm>
              <a:off x="2051720" y="1059585"/>
              <a:ext cx="4972050" cy="408460"/>
            </a:xfrm>
            <a:custGeom>
              <a:avLst/>
              <a:gdLst>
                <a:gd name="connsiteX0" fmla="*/ 228599 w 6629400"/>
                <a:gd name="connsiteY0" fmla="*/ 126626 h 362857"/>
                <a:gd name="connsiteX1" fmla="*/ 228599 w 6629400"/>
                <a:gd name="connsiteY1" fmla="*/ 362857 h 362857"/>
                <a:gd name="connsiteX2" fmla="*/ 0 w 6629400"/>
                <a:gd name="connsiteY2" fmla="*/ 362857 h 362857"/>
                <a:gd name="connsiteX3" fmla="*/ 0 w 6629400"/>
                <a:gd name="connsiteY3" fmla="*/ 362546 h 362857"/>
                <a:gd name="connsiteX4" fmla="*/ 838200 w 6629400"/>
                <a:gd name="connsiteY4" fmla="*/ 0 h 362857"/>
                <a:gd name="connsiteX5" fmla="*/ 5791200 w 6629400"/>
                <a:gd name="connsiteY5" fmla="*/ 0 h 362857"/>
                <a:gd name="connsiteX6" fmla="*/ 6629400 w 6629400"/>
                <a:gd name="connsiteY6" fmla="*/ 0 h 362857"/>
                <a:gd name="connsiteX7" fmla="*/ 6629400 w 6629400"/>
                <a:gd name="connsiteY7" fmla="*/ 362857 h 362857"/>
                <a:gd name="connsiteX8" fmla="*/ 5791200 w 6629400"/>
                <a:gd name="connsiteY8" fmla="*/ 362857 h 362857"/>
                <a:gd name="connsiteX9" fmla="*/ 838200 w 6629400"/>
                <a:gd name="connsiteY9" fmla="*/ 362857 h 3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29400" h="362857">
                  <a:moveTo>
                    <a:pt x="228599" y="126626"/>
                  </a:moveTo>
                  <a:lnTo>
                    <a:pt x="228599" y="362857"/>
                  </a:lnTo>
                  <a:lnTo>
                    <a:pt x="0" y="362857"/>
                  </a:lnTo>
                  <a:lnTo>
                    <a:pt x="0" y="362546"/>
                  </a:lnTo>
                  <a:close/>
                  <a:moveTo>
                    <a:pt x="838200" y="0"/>
                  </a:moveTo>
                  <a:lnTo>
                    <a:pt x="5791200" y="0"/>
                  </a:lnTo>
                  <a:lnTo>
                    <a:pt x="6629400" y="0"/>
                  </a:lnTo>
                  <a:lnTo>
                    <a:pt x="6629400" y="362857"/>
                  </a:lnTo>
                  <a:lnTo>
                    <a:pt x="5791200" y="362857"/>
                  </a:lnTo>
                  <a:lnTo>
                    <a:pt x="838200" y="362857"/>
                  </a:lnTo>
                  <a:close/>
                </a:path>
              </a:pathLst>
            </a:custGeom>
            <a:solidFill>
              <a:srgbClr val="0089DB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MH_Number_1">
              <a:hlinkClick r:id="rId2" action="ppaction://hlinksldjump"/>
            </p:cNvPr>
            <p:cNvSpPr/>
            <p:nvPr>
              <p:custDataLst>
                <p:tags r:id="rId4"/>
              </p:custDataLst>
            </p:nvPr>
          </p:nvSpPr>
          <p:spPr>
            <a:xfrm>
              <a:off x="2223170" y="1059584"/>
              <a:ext cx="457201" cy="40846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664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01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266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文本占位符 2"/>
            <p:cNvSpPr txBox="1"/>
            <p:nvPr/>
          </p:nvSpPr>
          <p:spPr>
            <a:xfrm>
              <a:off x="2680371" y="1059584"/>
              <a:ext cx="4343399" cy="408462"/>
            </a:xfrm>
            <a:prstGeom prst="rect">
              <a:avLst/>
            </a:prstGeom>
            <a:solidFill>
              <a:srgbClr val="008ADB"/>
            </a:solidFill>
            <a:ln>
              <a:noFill/>
            </a:ln>
          </p:spPr>
          <p:txBody>
            <a:bodyPr anchor="ctr"/>
            <a:lstStyle>
              <a:lvl1pPr marL="0" marR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 sz="1600" kern="12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solidFill>
                    <a:sysClr val="window" lastClr="FFFFFF"/>
                  </a:solidFill>
                </a:rPr>
                <a:t>项目总览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2213644" y="3511148"/>
            <a:ext cx="7750006" cy="627736"/>
            <a:chOff x="1985044" y="1059584"/>
            <a:chExt cx="5042858" cy="408462"/>
          </a:xfrm>
        </p:grpSpPr>
        <p:sp>
          <p:nvSpPr>
            <p:cNvPr id="69" name="MH_Others_1"/>
            <p:cNvSpPr/>
            <p:nvPr>
              <p:custDataLst>
                <p:tags r:id="rId5"/>
              </p:custDataLst>
            </p:nvPr>
          </p:nvSpPr>
          <p:spPr>
            <a:xfrm>
              <a:off x="1985044" y="1098650"/>
              <a:ext cx="238125" cy="369396"/>
            </a:xfrm>
            <a:custGeom>
              <a:avLst/>
              <a:gdLst>
                <a:gd name="connsiteX0" fmla="*/ 203199 w 203199"/>
                <a:gd name="connsiteY0" fmla="*/ 0 h 210018"/>
                <a:gd name="connsiteX1" fmla="*/ 203199 w 203199"/>
                <a:gd name="connsiteY1" fmla="*/ 210018 h 210018"/>
                <a:gd name="connsiteX2" fmla="*/ 0 w 203199"/>
                <a:gd name="connsiteY2" fmla="*/ 210018 h 210018"/>
                <a:gd name="connsiteX3" fmla="*/ 0 w 203199"/>
                <a:gd name="connsiteY3" fmla="*/ 209707 h 2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199" h="210018">
                  <a:moveTo>
                    <a:pt x="203199" y="0"/>
                  </a:moveTo>
                  <a:lnTo>
                    <a:pt x="203199" y="210018"/>
                  </a:lnTo>
                  <a:lnTo>
                    <a:pt x="0" y="210018"/>
                  </a:lnTo>
                  <a:lnTo>
                    <a:pt x="0" y="209707"/>
                  </a:lnTo>
                  <a:close/>
                </a:path>
              </a:pathLst>
            </a:custGeom>
            <a:solidFill>
              <a:srgbClr val="FFB418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70" name="MH_Entry_1">
              <a:hlinkClick r:id="rId2" action="ppaction://hlinksldjump"/>
            </p:cNvPr>
            <p:cNvSpPr/>
            <p:nvPr>
              <p:custDataLst>
                <p:tags r:id="rId6"/>
              </p:custDataLst>
            </p:nvPr>
          </p:nvSpPr>
          <p:spPr>
            <a:xfrm>
              <a:off x="2055852" y="1059585"/>
              <a:ext cx="4972050" cy="408460"/>
            </a:xfrm>
            <a:custGeom>
              <a:avLst/>
              <a:gdLst>
                <a:gd name="connsiteX0" fmla="*/ 228599 w 6629400"/>
                <a:gd name="connsiteY0" fmla="*/ 126626 h 362857"/>
                <a:gd name="connsiteX1" fmla="*/ 228599 w 6629400"/>
                <a:gd name="connsiteY1" fmla="*/ 362857 h 362857"/>
                <a:gd name="connsiteX2" fmla="*/ 0 w 6629400"/>
                <a:gd name="connsiteY2" fmla="*/ 362857 h 362857"/>
                <a:gd name="connsiteX3" fmla="*/ 0 w 6629400"/>
                <a:gd name="connsiteY3" fmla="*/ 362546 h 362857"/>
                <a:gd name="connsiteX4" fmla="*/ 838200 w 6629400"/>
                <a:gd name="connsiteY4" fmla="*/ 0 h 362857"/>
                <a:gd name="connsiteX5" fmla="*/ 5791200 w 6629400"/>
                <a:gd name="connsiteY5" fmla="*/ 0 h 362857"/>
                <a:gd name="connsiteX6" fmla="*/ 6629400 w 6629400"/>
                <a:gd name="connsiteY6" fmla="*/ 0 h 362857"/>
                <a:gd name="connsiteX7" fmla="*/ 6629400 w 6629400"/>
                <a:gd name="connsiteY7" fmla="*/ 362857 h 362857"/>
                <a:gd name="connsiteX8" fmla="*/ 5791200 w 6629400"/>
                <a:gd name="connsiteY8" fmla="*/ 362857 h 362857"/>
                <a:gd name="connsiteX9" fmla="*/ 838200 w 6629400"/>
                <a:gd name="connsiteY9" fmla="*/ 362857 h 3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29400" h="362857">
                  <a:moveTo>
                    <a:pt x="228599" y="126626"/>
                  </a:moveTo>
                  <a:lnTo>
                    <a:pt x="228599" y="362857"/>
                  </a:lnTo>
                  <a:lnTo>
                    <a:pt x="0" y="362857"/>
                  </a:lnTo>
                  <a:lnTo>
                    <a:pt x="0" y="362546"/>
                  </a:lnTo>
                  <a:close/>
                  <a:moveTo>
                    <a:pt x="838200" y="0"/>
                  </a:moveTo>
                  <a:lnTo>
                    <a:pt x="5791200" y="0"/>
                  </a:lnTo>
                  <a:lnTo>
                    <a:pt x="6629400" y="0"/>
                  </a:lnTo>
                  <a:lnTo>
                    <a:pt x="6629400" y="362857"/>
                  </a:lnTo>
                  <a:lnTo>
                    <a:pt x="5791200" y="362857"/>
                  </a:lnTo>
                  <a:lnTo>
                    <a:pt x="838200" y="362857"/>
                  </a:lnTo>
                  <a:close/>
                </a:path>
              </a:pathLst>
            </a:custGeom>
            <a:solidFill>
              <a:srgbClr val="0089DB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MH_Number_1">
              <a:hlinkClick r:id="rId2" action="ppaction://hlinksldjump"/>
            </p:cNvPr>
            <p:cNvSpPr/>
            <p:nvPr>
              <p:custDataLst>
                <p:tags r:id="rId7"/>
              </p:custDataLst>
            </p:nvPr>
          </p:nvSpPr>
          <p:spPr>
            <a:xfrm>
              <a:off x="2223170" y="1059584"/>
              <a:ext cx="457201" cy="40846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664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03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266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文本占位符 2"/>
            <p:cNvSpPr txBox="1"/>
            <p:nvPr/>
          </p:nvSpPr>
          <p:spPr>
            <a:xfrm>
              <a:off x="2684503" y="1059584"/>
              <a:ext cx="4343399" cy="408462"/>
            </a:xfrm>
            <a:prstGeom prst="rect">
              <a:avLst/>
            </a:prstGeom>
            <a:solidFill>
              <a:srgbClr val="0089DB"/>
            </a:solidFill>
            <a:ln>
              <a:noFill/>
            </a:ln>
          </p:spPr>
          <p:txBody>
            <a:bodyPr anchor="ctr"/>
            <a:lstStyle>
              <a:lvl1pPr marL="0" marR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 sz="1600" kern="12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核心优化手段与性能分析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2213644" y="4531016"/>
            <a:ext cx="7743656" cy="627736"/>
            <a:chOff x="1985044" y="1059584"/>
            <a:chExt cx="5038726" cy="408462"/>
          </a:xfrm>
        </p:grpSpPr>
        <p:sp>
          <p:nvSpPr>
            <p:cNvPr id="74" name="MH_Others_1"/>
            <p:cNvSpPr/>
            <p:nvPr>
              <p:custDataLst>
                <p:tags r:id="rId8"/>
              </p:custDataLst>
            </p:nvPr>
          </p:nvSpPr>
          <p:spPr>
            <a:xfrm>
              <a:off x="1985044" y="1098650"/>
              <a:ext cx="238125" cy="369396"/>
            </a:xfrm>
            <a:custGeom>
              <a:avLst/>
              <a:gdLst>
                <a:gd name="connsiteX0" fmla="*/ 203199 w 203199"/>
                <a:gd name="connsiteY0" fmla="*/ 0 h 210018"/>
                <a:gd name="connsiteX1" fmla="*/ 203199 w 203199"/>
                <a:gd name="connsiteY1" fmla="*/ 210018 h 210018"/>
                <a:gd name="connsiteX2" fmla="*/ 0 w 203199"/>
                <a:gd name="connsiteY2" fmla="*/ 210018 h 210018"/>
                <a:gd name="connsiteX3" fmla="*/ 0 w 203199"/>
                <a:gd name="connsiteY3" fmla="*/ 209707 h 2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199" h="210018">
                  <a:moveTo>
                    <a:pt x="203199" y="0"/>
                  </a:moveTo>
                  <a:lnTo>
                    <a:pt x="203199" y="210018"/>
                  </a:lnTo>
                  <a:lnTo>
                    <a:pt x="0" y="210018"/>
                  </a:lnTo>
                  <a:lnTo>
                    <a:pt x="0" y="209707"/>
                  </a:lnTo>
                  <a:close/>
                </a:path>
              </a:pathLst>
            </a:custGeom>
            <a:solidFill>
              <a:srgbClr val="FFB418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75" name="MH_Entry_1">
              <a:hlinkClick r:id="rId2" action="ppaction://hlinksldjump"/>
            </p:cNvPr>
            <p:cNvSpPr/>
            <p:nvPr>
              <p:custDataLst>
                <p:tags r:id="rId9"/>
              </p:custDataLst>
            </p:nvPr>
          </p:nvSpPr>
          <p:spPr>
            <a:xfrm>
              <a:off x="2051720" y="1059585"/>
              <a:ext cx="4972050" cy="408460"/>
            </a:xfrm>
            <a:custGeom>
              <a:avLst/>
              <a:gdLst>
                <a:gd name="connsiteX0" fmla="*/ 228599 w 6629400"/>
                <a:gd name="connsiteY0" fmla="*/ 126626 h 362857"/>
                <a:gd name="connsiteX1" fmla="*/ 228599 w 6629400"/>
                <a:gd name="connsiteY1" fmla="*/ 362857 h 362857"/>
                <a:gd name="connsiteX2" fmla="*/ 0 w 6629400"/>
                <a:gd name="connsiteY2" fmla="*/ 362857 h 362857"/>
                <a:gd name="connsiteX3" fmla="*/ 0 w 6629400"/>
                <a:gd name="connsiteY3" fmla="*/ 362546 h 362857"/>
                <a:gd name="connsiteX4" fmla="*/ 838200 w 6629400"/>
                <a:gd name="connsiteY4" fmla="*/ 0 h 362857"/>
                <a:gd name="connsiteX5" fmla="*/ 5791200 w 6629400"/>
                <a:gd name="connsiteY5" fmla="*/ 0 h 362857"/>
                <a:gd name="connsiteX6" fmla="*/ 6629400 w 6629400"/>
                <a:gd name="connsiteY6" fmla="*/ 0 h 362857"/>
                <a:gd name="connsiteX7" fmla="*/ 6629400 w 6629400"/>
                <a:gd name="connsiteY7" fmla="*/ 362857 h 362857"/>
                <a:gd name="connsiteX8" fmla="*/ 5791200 w 6629400"/>
                <a:gd name="connsiteY8" fmla="*/ 362857 h 362857"/>
                <a:gd name="connsiteX9" fmla="*/ 838200 w 6629400"/>
                <a:gd name="connsiteY9" fmla="*/ 362857 h 3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29400" h="362857">
                  <a:moveTo>
                    <a:pt x="228599" y="126626"/>
                  </a:moveTo>
                  <a:lnTo>
                    <a:pt x="228599" y="362857"/>
                  </a:lnTo>
                  <a:lnTo>
                    <a:pt x="0" y="362857"/>
                  </a:lnTo>
                  <a:lnTo>
                    <a:pt x="0" y="362546"/>
                  </a:lnTo>
                  <a:close/>
                  <a:moveTo>
                    <a:pt x="838200" y="0"/>
                  </a:moveTo>
                  <a:lnTo>
                    <a:pt x="5791200" y="0"/>
                  </a:lnTo>
                  <a:lnTo>
                    <a:pt x="6629400" y="0"/>
                  </a:lnTo>
                  <a:lnTo>
                    <a:pt x="6629400" y="362857"/>
                  </a:lnTo>
                  <a:lnTo>
                    <a:pt x="5791200" y="362857"/>
                  </a:lnTo>
                  <a:lnTo>
                    <a:pt x="838200" y="362857"/>
                  </a:lnTo>
                  <a:close/>
                </a:path>
              </a:pathLst>
            </a:custGeom>
            <a:solidFill>
              <a:srgbClr val="0089DB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MH_Number_1">
              <a:hlinkClick r:id="rId2" action="ppaction://hlinksldjump"/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223170" y="1059584"/>
              <a:ext cx="457201" cy="40846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664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04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266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文本占位符 2"/>
            <p:cNvSpPr txBox="1"/>
            <p:nvPr/>
          </p:nvSpPr>
          <p:spPr>
            <a:xfrm>
              <a:off x="2680371" y="1059584"/>
              <a:ext cx="4343399" cy="408462"/>
            </a:xfrm>
            <a:prstGeom prst="rect">
              <a:avLst/>
            </a:prstGeom>
            <a:solidFill>
              <a:srgbClr val="0089DB"/>
            </a:solidFill>
            <a:ln>
              <a:noFill/>
            </a:ln>
          </p:spPr>
          <p:txBody>
            <a:bodyPr anchor="ctr"/>
            <a:lstStyle>
              <a:lvl1pPr marL="0" marR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 sz="1600" kern="12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solidFill>
                    <a:sysClr val="window" lastClr="FFFFFF"/>
                  </a:solidFill>
                </a:rPr>
                <a:t>总结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207422" y="2491279"/>
            <a:ext cx="7743656" cy="627736"/>
            <a:chOff x="1985044" y="1059584"/>
            <a:chExt cx="5038726" cy="408462"/>
          </a:xfrm>
        </p:grpSpPr>
        <p:sp>
          <p:nvSpPr>
            <p:cNvPr id="24" name="MH_Others_1"/>
            <p:cNvSpPr/>
            <p:nvPr>
              <p:custDataLst>
                <p:tags r:id="rId11"/>
              </p:custDataLst>
            </p:nvPr>
          </p:nvSpPr>
          <p:spPr>
            <a:xfrm>
              <a:off x="1985044" y="1098650"/>
              <a:ext cx="238125" cy="369396"/>
            </a:xfrm>
            <a:custGeom>
              <a:avLst/>
              <a:gdLst>
                <a:gd name="connsiteX0" fmla="*/ 203199 w 203199"/>
                <a:gd name="connsiteY0" fmla="*/ 0 h 210018"/>
                <a:gd name="connsiteX1" fmla="*/ 203199 w 203199"/>
                <a:gd name="connsiteY1" fmla="*/ 210018 h 210018"/>
                <a:gd name="connsiteX2" fmla="*/ 0 w 203199"/>
                <a:gd name="connsiteY2" fmla="*/ 210018 h 210018"/>
                <a:gd name="connsiteX3" fmla="*/ 0 w 203199"/>
                <a:gd name="connsiteY3" fmla="*/ 209707 h 2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199" h="210018">
                  <a:moveTo>
                    <a:pt x="203199" y="0"/>
                  </a:moveTo>
                  <a:lnTo>
                    <a:pt x="203199" y="210018"/>
                  </a:lnTo>
                  <a:lnTo>
                    <a:pt x="0" y="210018"/>
                  </a:lnTo>
                  <a:lnTo>
                    <a:pt x="0" y="209707"/>
                  </a:lnTo>
                  <a:close/>
                </a:path>
              </a:pathLst>
            </a:custGeom>
            <a:solidFill>
              <a:srgbClr val="FFB418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25" name="MH_Entry_1">
              <a:hlinkClick r:id="rId2" action="ppaction://hlinksldjump"/>
            </p:cNvPr>
            <p:cNvSpPr/>
            <p:nvPr>
              <p:custDataLst>
                <p:tags r:id="rId12"/>
              </p:custDataLst>
            </p:nvPr>
          </p:nvSpPr>
          <p:spPr>
            <a:xfrm>
              <a:off x="2051720" y="1059585"/>
              <a:ext cx="4972050" cy="408460"/>
            </a:xfrm>
            <a:custGeom>
              <a:avLst/>
              <a:gdLst>
                <a:gd name="connsiteX0" fmla="*/ 228599 w 6629400"/>
                <a:gd name="connsiteY0" fmla="*/ 126626 h 362857"/>
                <a:gd name="connsiteX1" fmla="*/ 228599 w 6629400"/>
                <a:gd name="connsiteY1" fmla="*/ 362857 h 362857"/>
                <a:gd name="connsiteX2" fmla="*/ 0 w 6629400"/>
                <a:gd name="connsiteY2" fmla="*/ 362857 h 362857"/>
                <a:gd name="connsiteX3" fmla="*/ 0 w 6629400"/>
                <a:gd name="connsiteY3" fmla="*/ 362546 h 362857"/>
                <a:gd name="connsiteX4" fmla="*/ 838200 w 6629400"/>
                <a:gd name="connsiteY4" fmla="*/ 0 h 362857"/>
                <a:gd name="connsiteX5" fmla="*/ 5791200 w 6629400"/>
                <a:gd name="connsiteY5" fmla="*/ 0 h 362857"/>
                <a:gd name="connsiteX6" fmla="*/ 6629400 w 6629400"/>
                <a:gd name="connsiteY6" fmla="*/ 0 h 362857"/>
                <a:gd name="connsiteX7" fmla="*/ 6629400 w 6629400"/>
                <a:gd name="connsiteY7" fmla="*/ 362857 h 362857"/>
                <a:gd name="connsiteX8" fmla="*/ 5791200 w 6629400"/>
                <a:gd name="connsiteY8" fmla="*/ 362857 h 362857"/>
                <a:gd name="connsiteX9" fmla="*/ 838200 w 6629400"/>
                <a:gd name="connsiteY9" fmla="*/ 362857 h 3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29400" h="362857">
                  <a:moveTo>
                    <a:pt x="228599" y="126626"/>
                  </a:moveTo>
                  <a:lnTo>
                    <a:pt x="228599" y="362857"/>
                  </a:lnTo>
                  <a:lnTo>
                    <a:pt x="0" y="362857"/>
                  </a:lnTo>
                  <a:lnTo>
                    <a:pt x="0" y="362546"/>
                  </a:lnTo>
                  <a:close/>
                  <a:moveTo>
                    <a:pt x="838200" y="0"/>
                  </a:moveTo>
                  <a:lnTo>
                    <a:pt x="5791200" y="0"/>
                  </a:lnTo>
                  <a:lnTo>
                    <a:pt x="6629400" y="0"/>
                  </a:lnTo>
                  <a:lnTo>
                    <a:pt x="6629400" y="362857"/>
                  </a:lnTo>
                  <a:lnTo>
                    <a:pt x="5791200" y="362857"/>
                  </a:lnTo>
                  <a:lnTo>
                    <a:pt x="838200" y="362857"/>
                  </a:lnTo>
                  <a:close/>
                </a:path>
              </a:pathLst>
            </a:custGeom>
            <a:solidFill>
              <a:srgbClr val="0089DB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  <a:norm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MH_Number_1">
              <a:hlinkClick r:id="rId2" action="ppaction://hlinksldjump"/>
            </p:cNvPr>
            <p:cNvSpPr/>
            <p:nvPr>
              <p:custDataLst>
                <p:tags r:id="rId13"/>
              </p:custDataLst>
            </p:nvPr>
          </p:nvSpPr>
          <p:spPr>
            <a:xfrm>
              <a:off x="2223170" y="1059584"/>
              <a:ext cx="457201" cy="40846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664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02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266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文本占位符 2"/>
            <p:cNvSpPr txBox="1"/>
            <p:nvPr/>
          </p:nvSpPr>
          <p:spPr>
            <a:xfrm>
              <a:off x="2680371" y="1059584"/>
              <a:ext cx="4343399" cy="408462"/>
            </a:xfrm>
            <a:prstGeom prst="rect">
              <a:avLst/>
            </a:prstGeom>
            <a:solidFill>
              <a:srgbClr val="008ADB"/>
            </a:solidFill>
            <a:ln>
              <a:noFill/>
            </a:ln>
          </p:spPr>
          <p:txBody>
            <a:bodyPr anchor="ctr"/>
            <a:lstStyle>
              <a:lvl1pPr marL="0" marR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 sz="1600" kern="12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2400" b="1" noProof="0" dirty="0">
                  <a:solidFill>
                    <a:sysClr val="window" lastClr="FFFFFF"/>
                  </a:solidFill>
                </a:rPr>
                <a:t>技术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路线演进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390" y="201295"/>
            <a:ext cx="11809730" cy="6464300"/>
          </a:xfrm>
          <a:prstGeom prst="rect">
            <a:avLst/>
          </a:prstGeom>
          <a:solidFill>
            <a:srgbClr val="008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1422" y="3072352"/>
            <a:ext cx="24891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项目总览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C:\Users\Administrator\Desktop\logo.pnglogo"/>
          <p:cNvPicPr>
            <a:picLocks noChangeAspect="1"/>
          </p:cNvPicPr>
          <p:nvPr/>
        </p:nvPicPr>
        <p:blipFill>
          <a:blip r:embed="rId1">
            <a:lum contrast="24000"/>
          </a:blip>
          <a:srcRect/>
          <a:stretch>
            <a:fillRect/>
          </a:stretch>
        </p:blipFill>
        <p:spPr>
          <a:xfrm>
            <a:off x="5994400" y="4114800"/>
            <a:ext cx="6096000" cy="2451100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5673449" y="2157636"/>
            <a:ext cx="8451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zh-CN" altLang="en-US" sz="4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/>
        </p:nvSpPr>
        <p:spPr>
          <a:xfrm>
            <a:off x="874713" y="3656775"/>
            <a:ext cx="2222500" cy="390736"/>
          </a:xfrm>
          <a:prstGeom prst="round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874713" y="1468307"/>
            <a:ext cx="2222500" cy="390736"/>
          </a:xfrm>
          <a:prstGeom prst="round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664"/>
                </a:solidFill>
              </a:rPr>
              <a:t>项目总览</a:t>
            </a:r>
            <a:endParaRPr lang="zh-CN" altLang="en-US" dirty="0">
              <a:solidFill>
                <a:srgbClr val="002664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22463" y="2382121"/>
            <a:ext cx="184731" cy="368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7917" y="1428983"/>
            <a:ext cx="1863768" cy="43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优化工作概述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5633" y="2273117"/>
            <a:ext cx="10442576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我队针对稀疏线性方程组求解的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GMRES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算法，在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平台上进行了系统性的性能优化工作。通过从基础移植到深度优化的完整技术演进。最终在严格保证计算精度的前提下，实现了显著的性能提升。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7917" y="3619146"/>
            <a:ext cx="1758571" cy="43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最终性能成果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5675" y="4295140"/>
            <a:ext cx="10266680" cy="1109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经实测验证，优化方案成效显著：一是结果可靠性达标，测试案例整体通过率达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98.75%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，且所有通过案例的残差均严格满足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1e-6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的精度要求，完全符合业务标准；二是计算效率大幅提升，相比优化前，加速比区间稳定在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20-40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倍，实现精度与效率的双重突破。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874713" y="2078909"/>
            <a:ext cx="10442575" cy="1070116"/>
          </a:xfrm>
          <a:prstGeom prst="roundRect">
            <a:avLst/>
          </a:prstGeom>
          <a:noFill/>
          <a:ln w="3175">
            <a:solidFill>
              <a:srgbClr val="008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875030" y="4251325"/>
            <a:ext cx="10442575" cy="1153795"/>
          </a:xfrm>
          <a:prstGeom prst="roundRect">
            <a:avLst/>
          </a:prstGeom>
          <a:noFill/>
          <a:ln w="3175">
            <a:solidFill>
              <a:srgbClr val="008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390" y="201295"/>
            <a:ext cx="11809730" cy="6464300"/>
          </a:xfrm>
          <a:prstGeom prst="rect">
            <a:avLst/>
          </a:prstGeom>
          <a:solidFill>
            <a:srgbClr val="008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15471" y="3072352"/>
            <a:ext cx="3561058" cy="848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4400" dirty="0">
                <a:solidFill>
                  <a:sysClr val="window" lastClr="FFFFFF"/>
                </a:solidFill>
              </a:rPr>
              <a:t>技术</a:t>
            </a:r>
            <a:r>
              <a:rPr lang="zh-CN" altLang="en-US" sz="4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路线演进</a:t>
            </a:r>
            <a:endParaRPr lang="zh-CN" altLang="en-US" sz="44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C:\Users\Administrator\Desktop\logo.pnglogo"/>
          <p:cNvPicPr>
            <a:picLocks noChangeAspect="1"/>
          </p:cNvPicPr>
          <p:nvPr/>
        </p:nvPicPr>
        <p:blipFill>
          <a:blip r:embed="rId1">
            <a:lum contrast="24000"/>
          </a:blip>
          <a:srcRect/>
          <a:stretch>
            <a:fillRect/>
          </a:stretch>
        </p:blipFill>
        <p:spPr>
          <a:xfrm>
            <a:off x="5994400" y="4114800"/>
            <a:ext cx="6096000" cy="2451100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5673449" y="2157636"/>
            <a:ext cx="8451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技术路线演进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7850" y="1158010"/>
            <a:ext cx="6647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我们的优化工作经历了从基础移植到深度优化的技术演进过程。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7255" y="1708564"/>
            <a:ext cx="115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技术选型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7850" y="2110264"/>
            <a:ext cx="1894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基础移植</a:t>
            </a:r>
            <a:r>
              <a:rPr lang="en-US" altLang="zh-CN" sz="16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dcu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851" y="2479596"/>
            <a:ext cx="6396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直接调用</a:t>
            </a:r>
            <a:r>
              <a:rPr lang="en-US" altLang="zh-CN" sz="16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hipBLAS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16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hipSPARSE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库函数，建立双精度基准版本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7851" y="2848928"/>
            <a:ext cx="4453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启用</a:t>
            </a:r>
            <a:r>
              <a:rPr lang="en-US" altLang="zh-CN" sz="16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warmup,givens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旋转从</a:t>
            </a:r>
            <a:r>
              <a:rPr lang="en-US" altLang="zh-CN" sz="16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cpu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转移到</a:t>
            </a:r>
            <a:r>
              <a:rPr lang="en-US" altLang="zh-CN" sz="16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gpu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7851" y="3218260"/>
            <a:ext cx="2776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混合精度优化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7851" y="3587592"/>
            <a:ext cx="2299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手动内核开发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07255" y="4329157"/>
            <a:ext cx="115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决策依据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807851" y="4747041"/>
            <a:ext cx="10833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库函数起步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基于</a:t>
            </a:r>
            <a:r>
              <a:rPr lang="en-US" altLang="zh-CN" sz="16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hipBLAS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16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hipSPARSE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库函数经过深度优化，能够快速建立性能基准并验证算法正确性。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7851" y="5116373"/>
            <a:ext cx="10827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启用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warmup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可降低函数固定开销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,givens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旋转是数据密集型操作，可利用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GPU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的并行计算能力提升性能。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7851" y="5485705"/>
            <a:ext cx="11501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混合精度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单精度计算可提供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倍内存带宽利用率和近似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倍计算吞吐量，但关键精度敏感操作仍需保持双精度。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7851" y="5855037"/>
            <a:ext cx="11258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自主内核开发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库函数的固定调用开销限制了性能上限，手动实现内核组件能够针对算法特性进行深度优化。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79241" y="1694238"/>
            <a:ext cx="205588" cy="318922"/>
            <a:chOff x="2384792" y="856049"/>
            <a:chExt cx="365958" cy="567698"/>
          </a:xfrm>
        </p:grpSpPr>
        <p:sp>
          <p:nvSpPr>
            <p:cNvPr id="19" name="MH_Others_1"/>
            <p:cNvSpPr/>
            <p:nvPr>
              <p:custDataLst>
                <p:tags r:id="rId1"/>
              </p:custDataLst>
            </p:nvPr>
          </p:nvSpPr>
          <p:spPr>
            <a:xfrm>
              <a:off x="2384792" y="856049"/>
              <a:ext cx="365957" cy="567698"/>
            </a:xfrm>
            <a:custGeom>
              <a:avLst/>
              <a:gdLst>
                <a:gd name="connsiteX0" fmla="*/ 203199 w 203199"/>
                <a:gd name="connsiteY0" fmla="*/ 0 h 210018"/>
                <a:gd name="connsiteX1" fmla="*/ 203199 w 203199"/>
                <a:gd name="connsiteY1" fmla="*/ 210018 h 210018"/>
                <a:gd name="connsiteX2" fmla="*/ 0 w 203199"/>
                <a:gd name="connsiteY2" fmla="*/ 210018 h 210018"/>
                <a:gd name="connsiteX3" fmla="*/ 0 w 203199"/>
                <a:gd name="connsiteY3" fmla="*/ 209707 h 2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199" h="210018">
                  <a:moveTo>
                    <a:pt x="203199" y="0"/>
                  </a:moveTo>
                  <a:lnTo>
                    <a:pt x="203199" y="210018"/>
                  </a:lnTo>
                  <a:lnTo>
                    <a:pt x="0" y="210018"/>
                  </a:lnTo>
                  <a:lnTo>
                    <a:pt x="0" y="209707"/>
                  </a:lnTo>
                  <a:close/>
                </a:path>
              </a:pathLst>
            </a:custGeom>
            <a:solidFill>
              <a:srgbClr val="FFB418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24" name="任意多边形: 形状 23">
              <a:hlinkClick r:id="rId2" action="ppaction://hlinksldjump"/>
            </p:cNvPr>
            <p:cNvSpPr/>
            <p:nvPr>
              <p:custDataLst>
                <p:tags r:id="rId3"/>
              </p:custDataLst>
            </p:nvPr>
          </p:nvSpPr>
          <p:spPr>
            <a:xfrm>
              <a:off x="2487262" y="1015073"/>
              <a:ext cx="263488" cy="408673"/>
            </a:xfrm>
            <a:custGeom>
              <a:avLst/>
              <a:gdLst>
                <a:gd name="connsiteX0" fmla="*/ 263488 w 263488"/>
                <a:gd name="connsiteY0" fmla="*/ 0 h 408673"/>
                <a:gd name="connsiteX1" fmla="*/ 263488 w 263488"/>
                <a:gd name="connsiteY1" fmla="*/ 408673 h 408673"/>
                <a:gd name="connsiteX2" fmla="*/ 0 w 263488"/>
                <a:gd name="connsiteY2" fmla="*/ 408673 h 408673"/>
                <a:gd name="connsiteX3" fmla="*/ 0 w 263488"/>
                <a:gd name="connsiteY3" fmla="*/ 408135 h 408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3488" h="408673">
                  <a:moveTo>
                    <a:pt x="263488" y="0"/>
                  </a:moveTo>
                  <a:lnTo>
                    <a:pt x="263488" y="408673"/>
                  </a:lnTo>
                  <a:lnTo>
                    <a:pt x="0" y="408673"/>
                  </a:lnTo>
                  <a:lnTo>
                    <a:pt x="0" y="408135"/>
                  </a:lnTo>
                  <a:close/>
                </a:path>
              </a:pathLst>
            </a:custGeom>
            <a:solidFill>
              <a:srgbClr val="0089DB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79241" y="4297718"/>
            <a:ext cx="205588" cy="318922"/>
            <a:chOff x="2384792" y="856049"/>
            <a:chExt cx="365958" cy="567698"/>
          </a:xfrm>
        </p:grpSpPr>
        <p:sp>
          <p:nvSpPr>
            <p:cNvPr id="27" name="MH_Others_1"/>
            <p:cNvSpPr/>
            <p:nvPr>
              <p:custDataLst>
                <p:tags r:id="rId4"/>
              </p:custDataLst>
            </p:nvPr>
          </p:nvSpPr>
          <p:spPr>
            <a:xfrm>
              <a:off x="2384792" y="856049"/>
              <a:ext cx="365957" cy="567698"/>
            </a:xfrm>
            <a:custGeom>
              <a:avLst/>
              <a:gdLst>
                <a:gd name="connsiteX0" fmla="*/ 203199 w 203199"/>
                <a:gd name="connsiteY0" fmla="*/ 0 h 210018"/>
                <a:gd name="connsiteX1" fmla="*/ 203199 w 203199"/>
                <a:gd name="connsiteY1" fmla="*/ 210018 h 210018"/>
                <a:gd name="connsiteX2" fmla="*/ 0 w 203199"/>
                <a:gd name="connsiteY2" fmla="*/ 210018 h 210018"/>
                <a:gd name="connsiteX3" fmla="*/ 0 w 203199"/>
                <a:gd name="connsiteY3" fmla="*/ 209707 h 2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199" h="210018">
                  <a:moveTo>
                    <a:pt x="203199" y="0"/>
                  </a:moveTo>
                  <a:lnTo>
                    <a:pt x="203199" y="210018"/>
                  </a:lnTo>
                  <a:lnTo>
                    <a:pt x="0" y="210018"/>
                  </a:lnTo>
                  <a:lnTo>
                    <a:pt x="0" y="209707"/>
                  </a:lnTo>
                  <a:close/>
                </a:path>
              </a:pathLst>
            </a:custGeom>
            <a:solidFill>
              <a:srgbClr val="FFB418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28" name="任意多边形: 形状 27">
              <a:hlinkClick r:id="rId2" action="ppaction://hlinksldjump"/>
            </p:cNvPr>
            <p:cNvSpPr/>
            <p:nvPr>
              <p:custDataLst>
                <p:tags r:id="rId5"/>
              </p:custDataLst>
            </p:nvPr>
          </p:nvSpPr>
          <p:spPr>
            <a:xfrm>
              <a:off x="2487262" y="1015073"/>
              <a:ext cx="263488" cy="408673"/>
            </a:xfrm>
            <a:custGeom>
              <a:avLst/>
              <a:gdLst>
                <a:gd name="connsiteX0" fmla="*/ 263488 w 263488"/>
                <a:gd name="connsiteY0" fmla="*/ 0 h 408673"/>
                <a:gd name="connsiteX1" fmla="*/ 263488 w 263488"/>
                <a:gd name="connsiteY1" fmla="*/ 408673 h 408673"/>
                <a:gd name="connsiteX2" fmla="*/ 0 w 263488"/>
                <a:gd name="connsiteY2" fmla="*/ 408673 h 408673"/>
                <a:gd name="connsiteX3" fmla="*/ 0 w 263488"/>
                <a:gd name="connsiteY3" fmla="*/ 408135 h 408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3488" h="408673">
                  <a:moveTo>
                    <a:pt x="263488" y="0"/>
                  </a:moveTo>
                  <a:lnTo>
                    <a:pt x="263488" y="408673"/>
                  </a:lnTo>
                  <a:lnTo>
                    <a:pt x="0" y="408673"/>
                  </a:lnTo>
                  <a:lnTo>
                    <a:pt x="0" y="408135"/>
                  </a:lnTo>
                  <a:close/>
                </a:path>
              </a:pathLst>
            </a:custGeom>
            <a:solidFill>
              <a:srgbClr val="0089DB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模块耗时分析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3165" r="64" b="2908"/>
          <a:stretch>
            <a:fillRect/>
          </a:stretch>
        </p:blipFill>
        <p:spPr>
          <a:xfrm>
            <a:off x="2129790" y="955675"/>
            <a:ext cx="7721600" cy="5194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390" y="201295"/>
            <a:ext cx="11809730" cy="6464300"/>
          </a:xfrm>
          <a:prstGeom prst="rect">
            <a:avLst/>
          </a:prstGeom>
          <a:solidFill>
            <a:srgbClr val="008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47346" y="3072352"/>
            <a:ext cx="6497309" cy="835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4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核心优化手段与性能分析</a:t>
            </a:r>
            <a:endParaRPr lang="zh-CN" altLang="en-US" sz="44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C:\Users\Administrator\Desktop\logo.pnglogo"/>
          <p:cNvPicPr>
            <a:picLocks noChangeAspect="1"/>
          </p:cNvPicPr>
          <p:nvPr/>
        </p:nvPicPr>
        <p:blipFill>
          <a:blip r:embed="rId1">
            <a:lum contrast="24000"/>
          </a:blip>
          <a:srcRect/>
          <a:stretch>
            <a:fillRect/>
          </a:stretch>
        </p:blipFill>
        <p:spPr>
          <a:xfrm>
            <a:off x="5994400" y="4114800"/>
            <a:ext cx="6096000" cy="2451100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5673449" y="2157636"/>
            <a:ext cx="8451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1" lang="zh-CN" altLang="en-US" sz="4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核心优化手段与性能分析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4713" y="1769510"/>
            <a:ext cx="1040638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问题分析：原始代码用手写循环实现线性代数操作，运算效率低，导致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CPU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高负载成性能瓶颈，且闲置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DCU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并行算力，无法满足大规模数据处理需求。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优化方法：用竞赛允许的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hipBLAS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hipSPARSE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库，替换手写循环，将矩阵乘、向量运算等计算密集任务迁移至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DCU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优化效果：成功突破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CPU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瓶颈，充分释放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DCU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算力，显著提升计算效率；同时库函数保障运算精度与稳定性，为后续复杂计算奠定高效可靠的硬件基础。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281" y="3706501"/>
            <a:ext cx="4939373" cy="87478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280" y="4447888"/>
            <a:ext cx="4944205" cy="2141039"/>
          </a:xfrm>
          <a:prstGeom prst="rect">
            <a:avLst/>
          </a:prstGeom>
        </p:spPr>
      </p:pic>
      <p:sp>
        <p:nvSpPr>
          <p:cNvPr id="12" name="矩形: 圆角 11"/>
          <p:cNvSpPr/>
          <p:nvPr/>
        </p:nvSpPr>
        <p:spPr>
          <a:xfrm>
            <a:off x="874713" y="1249823"/>
            <a:ext cx="2782888" cy="390736"/>
          </a:xfrm>
          <a:prstGeom prst="round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68445" y="1210499"/>
            <a:ext cx="2616328" cy="43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1.</a:t>
            </a:r>
            <a:r>
              <a:rPr lang="zh-CN" altLang="en-US" sz="2000" dirty="0">
                <a:solidFill>
                  <a:schemeClr val="bg1"/>
                </a:solidFill>
              </a:rPr>
              <a:t>线性算子的</a:t>
            </a:r>
            <a:r>
              <a:rPr lang="en-US" altLang="zh-CN" sz="2000" dirty="0">
                <a:solidFill>
                  <a:schemeClr val="bg1"/>
                </a:solidFill>
              </a:rPr>
              <a:t>DCU</a:t>
            </a:r>
            <a:r>
              <a:rPr lang="zh-CN" altLang="en-US" sz="2000" dirty="0">
                <a:solidFill>
                  <a:schemeClr val="bg1"/>
                </a:solidFill>
              </a:rPr>
              <a:t>移植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23402" y="5797492"/>
            <a:ext cx="3676654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性能瓶颈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模块加载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hipModuleLoad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6886" y="4354690"/>
            <a:ext cx="3676654" cy="134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线性算子迁移至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并融合内核，带宽利用与并行度显著提升，启动与通信开销下降，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mtx1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矩阵运行时间从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3291ms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减少至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724ms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核心优化手段与性能分析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0255" y="1395730"/>
            <a:ext cx="9888855" cy="1170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问题分析：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DCU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首次执行计算任务时，会产生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“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冷启动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开销，该开销会干扰计时结果，导致数据波动，无法准确反映真实计算性能，破坏计时的准确性与稳定性。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优化方法：针对冷启动问题，在正式计时流程开始前，设计预热方案，执行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DCU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预热流程，提前触发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DCU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资源初始化、加载相关库与执行基础运算，消耗冷启动开销。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优化效果：成功排除冷启动开销对计时的干扰，消除数据波动，使计时结果能精准体现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DCU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真实计算性能，保障数据的准确性与稳定性。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rcRect b="45082"/>
          <a:stretch>
            <a:fillRect/>
          </a:stretch>
        </p:blipFill>
        <p:spPr>
          <a:xfrm>
            <a:off x="875025" y="3354281"/>
            <a:ext cx="5078100" cy="2174213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874713" y="938038"/>
            <a:ext cx="2782888" cy="390736"/>
          </a:xfrm>
          <a:prstGeom prst="round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68445" y="898714"/>
            <a:ext cx="2616328" cy="43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2.</a:t>
            </a:r>
            <a:r>
              <a:rPr lang="zh-CN" altLang="en-US" sz="2000" dirty="0">
                <a:solidFill>
                  <a:schemeClr val="bg1"/>
                </a:solidFill>
              </a:rPr>
              <a:t>全面的</a:t>
            </a:r>
            <a:r>
              <a:rPr lang="en-US" altLang="zh-CN" sz="2000" dirty="0">
                <a:solidFill>
                  <a:schemeClr val="bg1"/>
                </a:solidFill>
              </a:rPr>
              <a:t>GPU</a:t>
            </a:r>
            <a:r>
              <a:rPr lang="zh-CN" altLang="en-US" sz="2000" dirty="0">
                <a:solidFill>
                  <a:schemeClr val="bg1"/>
                </a:solidFill>
              </a:rPr>
              <a:t>预热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7" name="图片 16"/>
          <p:cNvPicPr/>
          <p:nvPr/>
        </p:nvPicPr>
        <p:blipFill>
          <a:blip r:embed="rId1"/>
          <a:srcRect t="73517"/>
          <a:stretch>
            <a:fillRect/>
          </a:stretch>
        </p:blipFill>
        <p:spPr>
          <a:xfrm>
            <a:off x="875025" y="5519249"/>
            <a:ext cx="5078100" cy="1048480"/>
          </a:xfrm>
          <a:prstGeom prst="rect">
            <a:avLst/>
          </a:prstGeom>
        </p:spPr>
      </p:pic>
      <p:pic>
        <p:nvPicPr>
          <p:cNvPr id="18" name="图片 17" descr="C:\Users\Administrator\Desktop\logo.pnglogo"/>
          <p:cNvPicPr>
            <a:picLocks noChangeAspect="1"/>
          </p:cNvPicPr>
          <p:nvPr/>
        </p:nvPicPr>
        <p:blipFill>
          <a:blip r:embed="rId2">
            <a:alphaModFix amt="5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7873549" y="4684346"/>
            <a:ext cx="3593763" cy="1444992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6522280" y="3354159"/>
            <a:ext cx="1351424" cy="40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性能收益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90861" y="3912365"/>
            <a:ext cx="3668200" cy="134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全面预热消除冷启动川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开销，避免首轮抖动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;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计时更准、更稳且可复现，端到端时延显著下降加载从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85%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降至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72%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mtx1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矩阵运行时间减少至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330ms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核心优化手段与性能分析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04545" y="1556385"/>
            <a:ext cx="9888855" cy="982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问题分析：计算过程中需平衡精度与效率，存在残差判断易因精度不足导致结果不准，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Krylov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子空间构建若单用高精度会拖慢效率，点积运算中内存带宽限制与计算精度需求存在冲突，影响整体性能。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优化方法：针对矛盾采用差异化精度配置：外层残差计算全程用双精度保障判断准确性；内层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Krylov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构建用混合精度平衡稳定与效率；点积运算采用单精度读取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+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双精度累加模式，兼顾带宽占用与计算精度。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优化效果：成功保障残差判断精准、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Krylov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构建稳定高效，有效平衡点积带宽与精度需求，推动整体性能优化。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804401" y="3272750"/>
            <a:ext cx="1862599" cy="40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代码实现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10442" y="3381375"/>
            <a:ext cx="4494021" cy="28622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078" y="3381375"/>
            <a:ext cx="4519543" cy="1479850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884873" y="1030113"/>
            <a:ext cx="2782888" cy="390736"/>
          </a:xfrm>
          <a:prstGeom prst="round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78605" y="990789"/>
            <a:ext cx="2616328" cy="43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3.</a:t>
            </a:r>
            <a:r>
              <a:rPr lang="zh-CN" altLang="en-US" sz="2000" dirty="0">
                <a:solidFill>
                  <a:schemeClr val="bg1"/>
                </a:solidFill>
              </a:rPr>
              <a:t>混合精度设计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6689726" y="4881443"/>
            <a:ext cx="1763712" cy="40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性能收益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89725" y="5228120"/>
            <a:ext cx="4778375" cy="964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混合精度将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Krylov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向量用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float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、关键累加用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double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，内存占用减半、带宽效率与吞吐近翻倍在保持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1e-6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精度下显著提速。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mtx1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矩阵运行时间减少至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206ms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核心优化手段与性能分析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0243" y="1943600"/>
            <a:ext cx="10301288" cy="3290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问题发现：原始实现存在多重性能瓶颈：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spmv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内核未做针对性优化，计算单元利用率低，且内核调用频繁、数据传输耗时久；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Givens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旋转在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CPU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端顺序执行，需频繁进行主机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-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设备间参数传输，同步开销大；点积计算中带宽效率与计算精度难以兼顾，且规约操作分散导致总开销过高，严重制约整体运算速度。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优化方法：手动实现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spmv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内核并优化：采用多线程合作处理单行矩阵的向量化计算，提升计算单元利用率；融合稀疏矩阵向量乘法与向量线性组合操作，减少内核调用和数据传输耗时；基于矩阵稀疏特征动态调整线程配置；迁移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Givens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旋转至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DCU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：实现批处理旋转内核，单次调用完成所有内迭代计算，消除设备间数据传输与同步开销；设计混合精度点积累加内核：单精度读取提升带宽效率，双精度累加保障精度，批量计算多个向量点积以降低规约开销。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●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优化效果：显著提升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spmv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内核计算效率，减少无效开销；彻底消除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Givens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旋转的跨设备传输与同步损耗；高效平衡点积带宽与精度需求，大幅降低规约操作成本，全方位突破性能瓶颈，实现整体运算性能的大幅跃升。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74713" y="1249823"/>
            <a:ext cx="2782888" cy="390736"/>
          </a:xfrm>
          <a:prstGeom prst="round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68445" y="1210499"/>
            <a:ext cx="2616328" cy="43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4.</a:t>
            </a:r>
            <a:r>
              <a:rPr lang="zh-CN" altLang="en-US" sz="2000" dirty="0">
                <a:solidFill>
                  <a:schemeClr val="bg1"/>
                </a:solidFill>
              </a:rPr>
              <a:t>内核优化方法说明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核心优化手段与性能分析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713" y="2244814"/>
            <a:ext cx="5975225" cy="3054261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2"/>
          <a:srcRect r="21129"/>
          <a:stretch>
            <a:fillRect/>
          </a:stretch>
        </p:blipFill>
        <p:spPr>
          <a:xfrm>
            <a:off x="6076950" y="2244814"/>
            <a:ext cx="5524500" cy="30542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88988" y="1157750"/>
            <a:ext cx="2173287" cy="40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代码实现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核心优化手段与性能分析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8513" y="1163543"/>
            <a:ext cx="10402887" cy="702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spmv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内核采用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CSR-Vector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模板实现自适应优化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增加网格大小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缩减线程块大小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每个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warp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可以同时负责矩阵多行的计算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30" y="1900555"/>
            <a:ext cx="10558145" cy="30911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88390" y="5073288"/>
            <a:ext cx="10301288" cy="40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性能收益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7915" y="5497333"/>
            <a:ext cx="10596596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手写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SpMV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批量点积、算子融合、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warp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归约与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TV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自适应，减少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launch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与全局访存，提升占用率和带宽效率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点积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100ms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降至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30ms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，端到端显著提速。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mtx1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矩阵运行时间减少至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144ms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390" y="201295"/>
            <a:ext cx="11809730" cy="6464300"/>
          </a:xfrm>
          <a:prstGeom prst="rect">
            <a:avLst/>
          </a:prstGeom>
          <a:solidFill>
            <a:srgbClr val="008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3223" y="3072352"/>
            <a:ext cx="1305554" cy="835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 descr="C:\Users\Administrator\Desktop\logo.pnglogo"/>
          <p:cNvPicPr>
            <a:picLocks noChangeAspect="1"/>
          </p:cNvPicPr>
          <p:nvPr/>
        </p:nvPicPr>
        <p:blipFill>
          <a:blip r:embed="rId1">
            <a:lum contrast="24000"/>
          </a:blip>
          <a:srcRect/>
          <a:stretch>
            <a:fillRect/>
          </a:stretch>
        </p:blipFill>
        <p:spPr>
          <a:xfrm>
            <a:off x="5994400" y="4114800"/>
            <a:ext cx="6096000" cy="2451100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5673449" y="2157636"/>
            <a:ext cx="8451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性能优化可视化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6442710" y="1529080"/>
          <a:ext cx="5044440" cy="3879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938530" y="1529080"/>
          <a:ext cx="5044440" cy="433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/>
          <p:cNvSpPr/>
          <p:nvPr/>
        </p:nvSpPr>
        <p:spPr>
          <a:xfrm>
            <a:off x="874713" y="3299190"/>
            <a:ext cx="1897062" cy="390736"/>
          </a:xfrm>
          <a:prstGeom prst="round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>
          <a:xfrm>
            <a:off x="874713" y="4840306"/>
            <a:ext cx="1897062" cy="390736"/>
          </a:xfrm>
          <a:prstGeom prst="round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874713" y="1429192"/>
            <a:ext cx="1897062" cy="390736"/>
          </a:xfrm>
          <a:prstGeom prst="roundRect">
            <a:avLst/>
          </a:prstGeom>
          <a:solidFill>
            <a:srgbClr val="008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664"/>
                </a:solidFill>
              </a:rPr>
              <a:t>总结</a:t>
            </a:r>
            <a:endParaRPr kumimoji="1" lang="zh-CN" altLang="en-US" dirty="0">
              <a:solidFill>
                <a:srgbClr val="002664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980171"/>
            <a:ext cx="9834359" cy="36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本项目针对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GMRES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算法在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平台上进行了系统性能优化，通过四个递进式优化阶段实现了显著的性能提升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9519" y="1391170"/>
            <a:ext cx="1736056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技术演进路径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4713" y="1787890"/>
            <a:ext cx="9964737" cy="36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基础移植阶段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利用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hipBLAS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hipSPARSE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库函数完成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移植，建立性能基线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(3291ms-724ms)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4713" y="2154785"/>
            <a:ext cx="8793162" cy="36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预热优化阶段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全面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GPU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预热消除冷启动开销，稳定计时性能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(724ms→330ms)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74713" y="2521680"/>
            <a:ext cx="9721646" cy="36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混合精度阶段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单精度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Krylov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空间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双精度关键累加，内存占用减半、带宽效率翻倍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(330ms→206ms)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4713" y="2888575"/>
            <a:ext cx="8793162" cy="36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0089DB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深度内核优化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手写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SpMV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融合内核、批量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Givens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旋转、自适应线程配置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(206ms→144ms)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59519" y="3263900"/>
            <a:ext cx="1247775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核心成果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000" y="3706995"/>
            <a:ext cx="10555288" cy="36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性能提升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典型案例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mtx1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3291ms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优化至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144ms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，总体加速比达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20-40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倍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" y="4073890"/>
            <a:ext cx="10555288" cy="36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精度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保障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:98.75%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通过率，所有通过案例残差满足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1e-6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精度要求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000" y="4440785"/>
            <a:ext cx="10555288" cy="36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技术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深度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从算法映射到内存优化，从计算精度到并行策略的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全方位优化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59519" y="4798155"/>
            <a:ext cx="1571625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经验总结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2000" y="5193625"/>
            <a:ext cx="10555288" cy="102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本项目证明了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库函数起步一混合精度优化一手动内核深化”的优化路径在异构计算平台上的有效性。通过对计算特征的深入分析和针对性优化，在保证数值精度的前提下充分释放了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硬件的计算潜力，为稀疏线性求解器的异构加速提供了完整的工程实践参考。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390" y="201295"/>
            <a:ext cx="11809730" cy="6464300"/>
          </a:xfrm>
          <a:prstGeom prst="rect">
            <a:avLst/>
          </a:prstGeom>
          <a:solidFill>
            <a:srgbClr val="008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301365" y="2868930"/>
            <a:ext cx="36271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/>
            <a:r>
              <a:rPr kumimoji="1" lang="zh-CN" altLang="en-US" sz="4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感谢老师聆听</a:t>
            </a:r>
            <a:endParaRPr kumimoji="1" lang="zh-CN" altLang="en-US" sz="4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C:\Users\Administrator\Desktop\logo1.pnglogo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lum contrast="24000"/>
          </a:blip>
          <a:srcRect/>
          <a:stretch>
            <a:fillRect/>
          </a:stretch>
        </p:blipFill>
        <p:spPr>
          <a:xfrm>
            <a:off x="7743508" y="2992755"/>
            <a:ext cx="1296035" cy="521335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100000"/>
              </a:srgbClr>
            </a:outerShdw>
          </a:effectLst>
        </p:spPr>
      </p:pic>
      <p:cxnSp>
        <p:nvCxnSpPr>
          <p:cNvPr id="4" name="直接连接符 3"/>
          <p:cNvCxnSpPr/>
          <p:nvPr/>
        </p:nvCxnSpPr>
        <p:spPr>
          <a:xfrm>
            <a:off x="7222490" y="3009900"/>
            <a:ext cx="0" cy="4876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70406221723"/>
  <p:tag name="MH_LIBRARY" val="CONTENTS"/>
  <p:tag name="MH_TYPE" val="OTHERS"/>
  <p:tag name="ID" val="626781"/>
</p:tagLst>
</file>

<file path=ppt/tags/tag2.xml><?xml version="1.0" encoding="utf-8"?>
<p:tagLst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3.xml><?xml version="1.0" encoding="utf-8"?>
<p:tagLst xmlns:p="http://schemas.openxmlformats.org/presentationml/2006/main">
  <p:tag name="MH" val="20170406221723"/>
  <p:tag name="MH_LIBRARY" val="CONTENTS"/>
  <p:tag name="MH_TYPE" val="NUMBER"/>
  <p:tag name="ID" val="626781"/>
  <p:tag name="MH_ORDER" val="1"/>
</p:tagLst>
</file>

<file path=ppt/tags/tag4.xml><?xml version="1.0" encoding="utf-8"?>
<p:tagLst xmlns:p="http://schemas.openxmlformats.org/presentationml/2006/main">
  <p:tag name="MH" val="20170406221723"/>
  <p:tag name="MH_LIBRARY" val="CONTENTS"/>
  <p:tag name="MH_TYPE" val="OTHERS"/>
  <p:tag name="ID" val="626781"/>
</p:tagLst>
</file>

<file path=ppt/tags/tag5.xml><?xml version="1.0" encoding="utf-8"?>
<p:tagLst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6.xml><?xml version="1.0" encoding="utf-8"?>
<p:tagLst xmlns:p="http://schemas.openxmlformats.org/presentationml/2006/main">
  <p:tag name="MH" val="20170406221723"/>
  <p:tag name="MH_LIBRARY" val="CONTENTS"/>
  <p:tag name="MH_TYPE" val="NUMBER"/>
  <p:tag name="ID" val="626781"/>
  <p:tag name="MH_ORDER" val="1"/>
</p:tagLst>
</file>

<file path=ppt/tags/tag7.xml><?xml version="1.0" encoding="utf-8"?>
<p:tagLst xmlns:p="http://schemas.openxmlformats.org/presentationml/2006/main">
  <p:tag name="MH" val="20170406221723"/>
  <p:tag name="MH_LIBRARY" val="CONTENTS"/>
  <p:tag name="MH_TYPE" val="OTHERS"/>
  <p:tag name="ID" val="626781"/>
</p:tagLst>
</file>

<file path=ppt/tags/tag8.xml><?xml version="1.0" encoding="utf-8"?>
<p:tagLst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9.xml><?xml version="1.0" encoding="utf-8"?>
<p:tagLst xmlns:p="http://schemas.openxmlformats.org/presentationml/2006/main">
  <p:tag name="MH" val="20170406221723"/>
  <p:tag name="MH_LIBRARY" val="CONTENTS"/>
  <p:tag name="MH_TYPE" val="NUMBER"/>
  <p:tag name="ID" val="626781"/>
  <p:tag name="MH_ORDER" val="1"/>
</p:tagLst>
</file>

<file path=ppt/tags/tag10.xml><?xml version="1.0" encoding="utf-8"?>
<p:tagLst xmlns:p="http://schemas.openxmlformats.org/presentationml/2006/main">
  <p:tag name="MH" val="20170406221723"/>
  <p:tag name="MH_LIBRARY" val="CONTENTS"/>
  <p:tag name="MH_TYPE" val="OTHERS"/>
  <p:tag name="ID" val="626781"/>
</p:tagLst>
</file>

<file path=ppt/tags/tag11.xml><?xml version="1.0" encoding="utf-8"?>
<p:tagLst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12.xml><?xml version="1.0" encoding="utf-8"?>
<p:tagLst xmlns:p="http://schemas.openxmlformats.org/presentationml/2006/main">
  <p:tag name="MH" val="20170406221723"/>
  <p:tag name="MH_LIBRARY" val="CONTENTS"/>
  <p:tag name="MH_TYPE" val="NUMBER"/>
  <p:tag name="ID" val="626781"/>
  <p:tag name="MH_ORDER" val="1"/>
</p:tagLst>
</file>

<file path=ppt/tags/tag13.xml><?xml version="1.0" encoding="utf-8"?>
<p:tagLst xmlns:p="http://schemas.openxmlformats.org/presentationml/2006/main">
  <p:tag name="MH" val="20170406221723"/>
  <p:tag name="MH_LIBRARY" val="CONTENTS"/>
  <p:tag name="MH_TYPE" val="OTHERS"/>
  <p:tag name="ID" val="626781"/>
</p:tagLst>
</file>

<file path=ppt/tags/tag14.xml><?xml version="1.0" encoding="utf-8"?>
<p:tagLst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15.xml><?xml version="1.0" encoding="utf-8"?>
<p:tagLst xmlns:p="http://schemas.openxmlformats.org/presentationml/2006/main">
  <p:tag name="MH" val="20170406221723"/>
  <p:tag name="MH_LIBRARY" val="CONTENTS"/>
  <p:tag name="MH_TYPE" val="OTHERS"/>
  <p:tag name="ID" val="626781"/>
</p:tagLst>
</file>

<file path=ppt/tags/tag16.xml><?xml version="1.0" encoding="utf-8"?>
<p:tagLst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17.xml><?xml version="1.0" encoding="utf-8"?>
<p:tagLst xmlns:p="http://schemas.openxmlformats.org/presentationml/2006/main">
  <p:tag name="KSO_WM_DIAGRAM_VIRTUALLY_FRAME" val="{&quot;height&quot;:349.48566929133864,&quot;left&quot;:63.338661417322825,&quot;top&quot;:142.13937007874014,&quot;width&quot;:778.6692913385826}"/>
</p:tagLst>
</file>

<file path=ppt/tags/tag18.xml><?xml version="1.0" encoding="utf-8"?>
<p:tagLst xmlns:p="http://schemas.openxmlformats.org/presentationml/2006/main">
  <p:tag name="KSO_WM_DIAGRAM_VIRTUALLY_FRAME" val="{&quot;height&quot;:349.48566929133864,&quot;left&quot;:63.338661417322825,&quot;top&quot;:142.13937007874014,&quot;width&quot;:778.6692913385826}"/>
</p:tagLst>
</file>

<file path=ppt/tags/tag19.xml><?xml version="1.0" encoding="utf-8"?>
<p:tagLst xmlns:p="http://schemas.openxmlformats.org/presentationml/2006/main">
  <p:tag name="KSO_WM_DIAGRAM_VIRTUALLY_FRAME" val="{&quot;height&quot;:349.48566929133864,&quot;left&quot;:63.338661417322825,&quot;top&quot;:142.13937007874014,&quot;width&quot;:778.6692913385826}"/>
</p:tagLst>
</file>

<file path=ppt/tags/tag20.xml><?xml version="1.0" encoding="utf-8"?>
<p:tagLst xmlns:p="http://schemas.openxmlformats.org/presentationml/2006/main">
  <p:tag name="KSO_WM_DIAGRAM_VIRTUALLY_FRAME" val="{&quot;height&quot;:349.48566929133864,&quot;left&quot;:63.338661417322825,&quot;top&quot;:142.13937007874014,&quot;width&quot;:778.6692913385826}"/>
</p:tagLst>
</file>

<file path=ppt/tags/tag21.xml><?xml version="1.0" encoding="utf-8"?>
<p:tagLst xmlns:p="http://schemas.openxmlformats.org/presentationml/2006/main">
  <p:tag name="KSO_WM_UNIT_PLACING_PICTURE_USER_VIEWPORT" val="{&quot;height&quot;:3860,&quot;width&quot;:960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2870</Words>
  <Application>WPS 演示</Application>
  <PresentationFormat>宽屏</PresentationFormat>
  <Paragraphs>167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华文细黑</vt:lpstr>
      <vt:lpstr>Times New Roman</vt:lpstr>
      <vt:lpstr>等线</vt:lpstr>
      <vt:lpstr>微软雅黑 Light</vt:lpstr>
      <vt:lpstr>Arial Unicode MS</vt:lpstr>
      <vt:lpstr>Calibri</vt:lpstr>
      <vt:lpstr>Office 主题​​</vt:lpstr>
      <vt:lpstr>演示文稿2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ai shanshan</dc:creator>
  <cp:lastModifiedBy>小白</cp:lastModifiedBy>
  <cp:revision>167</cp:revision>
  <dcterms:created xsi:type="dcterms:W3CDTF">2020-04-18T08:44:00Z</dcterms:created>
  <dcterms:modified xsi:type="dcterms:W3CDTF">2025-11-13T15:59:36Z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BCB763F8E1A944A7B4982A832C6E34C3_12</vt:lpwstr>
  </property>
</Properties>
</file>